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Stormwater and Heat</a:t>
            </a:r>
          </a:p>
        </p:txBody>
      </p:sp>
      <p:sp>
        <p:nvSpPr>
          <p:cNvPr id="3" name="Subtitle 2"/>
          <p:cNvSpPr>
            <a:spLocks noGrp="1"/>
          </p:cNvSpPr>
          <p:nvPr>
            <p:ph type="subTitle" idx="1"/>
          </p:nvPr>
        </p:nvSpPr>
        <p:spPr/>
        <p:txBody>
          <a:bodyPr/>
          <a:lstStyle/>
          <a:p>
            <a:r>
              <a:t>Evaluation fixture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a:t>
            </a:r>
          </a:p>
        </p:txBody>
      </p:sp>
      <p:sp>
        <p:nvSpPr>
          <p:cNvPr id="3" name="Content Placeholder 2"/>
          <p:cNvSpPr>
            <a:spLocks noGrp="1"/>
          </p:cNvSpPr>
          <p:nvPr>
            <p:ph idx="1"/>
          </p:nvPr>
        </p:nvSpPr>
        <p:spPr/>
        <p:txBody>
          <a:bodyPr wrap="square"/>
          <a:lstStyle/>
          <a:p>
            <a:r>
              <a:t>Stormwater management in dense urban districts has changed considerably over the past two decades.</a:t>
            </a:r>
          </a:p>
          <a:p>
            <a:pPr>
              <a:defRPr sz="1600"/>
            </a:pPr>
            <a:r>
              <a:t>Engineers once treated rainfall as something to be channelled away as quickly as possible, and the resulting infrastructure was almost entirely underground.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a:t>
            </a:r>
          </a:p>
        </p:txBody>
      </p:sp>
      <p:sp>
        <p:nvSpPr>
          <p:cNvPr id="3" name="Content Placeholder 2"/>
          <p:cNvSpPr>
            <a:spLocks noGrp="1"/>
          </p:cNvSpPr>
          <p:nvPr>
            <p:ph idx="1"/>
          </p:nvPr>
        </p:nvSpPr>
        <p:spPr/>
        <p:txBody>
          <a:bodyPr wrap="square"/>
          <a:lstStyle/>
          <a:p>
            <a:r>
              <a:t>Measurements in mid-sized cities typically show a difference of three to five degrees Celsius between the dense core and the outlying suburbs, though the gap widens on still, cloudless nights when there is no wind to mix the air.</a:t>
            </a:r>
          </a:p>
          <a:p>
            <a:pPr>
              <a:defRPr sz="1600"/>
            </a:pPr>
            <a:r>
              <a:t>The effect is worst in neighbourhoods that were paved early and planted late.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a:t>
            </a:r>
          </a:p>
        </p:txBody>
      </p:sp>
      <p:sp>
        <p:nvSpPr>
          <p:cNvPr id="3" name="Content Placeholder 2"/>
          <p:cNvSpPr>
            <a:spLocks noGrp="1"/>
          </p:cNvSpPr>
          <p:nvPr>
            <p:ph idx="1"/>
          </p:nvPr>
        </p:nvSpPr>
        <p:spPr/>
        <p:txBody>
          <a:bodyPr wrap="square"/>
          <a:lstStyle/>
          <a:p>
            <a:r>
              <a:t>Contemporary practice favours retention over conveyance.</a:t>
            </a:r>
          </a:p>
          <a:p>
            <a:pPr>
              <a:defRPr sz="1600"/>
            </a:pPr>
            <a:r>
              <a:t>Bioswales, detention basins and permeable paving slow the movement of water rather than accelerating it, which reduces the shock load on treatment plants during heavy storms and lets sediment settle before discharge.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a:t>
            </a:r>
          </a:p>
        </p:txBody>
      </p:sp>
      <p:sp>
        <p:nvSpPr>
          <p:cNvPr id="3" name="Content Placeholder 2"/>
          <p:cNvSpPr>
            <a:spLocks noGrp="1"/>
          </p:cNvSpPr>
          <p:nvPr>
            <p:ph idx="1"/>
          </p:nvPr>
        </p:nvSpPr>
        <p:spPr/>
        <p:txBody>
          <a:bodyPr wrap="square"/>
          <a:lstStyle/>
          <a:p>
            <a:r>
              <a:t>The budget question is rarely about capital cost alone.</a:t>
            </a:r>
          </a:p>
          <a:p>
            <a:pPr>
              <a:defRPr sz="1600"/>
            </a:pPr>
            <a:r>
              <a:t>Maintenance regimes for green infrastructure differ substantially from those for buried pipe, and municipalities that skip the training end up with clogged swales within a few seasons.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